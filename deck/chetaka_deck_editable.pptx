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mailto:ystephenraj24@gmail.com" TargetMode="External"/><Relationship Id="rId4" Type="http://schemas.openxmlformats.org/officeDocument/2006/relationships/hyperlink" Target="mailto:pranavbaddam17@gmail.com" TargetMode="External"/><Relationship Id="rId5" Type="http://schemas.openxmlformats.org/officeDocument/2006/relationships/hyperlink" Target="mailto:sujitreddy78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oceedings.mlr.press/v202/radford23a.html" TargetMode="External"/><Relationship Id="rId3" Type="http://schemas.openxmlformats.org/officeDocument/2006/relationships/hyperlink" Target="https://arxiv.org/abs/1811.06621" TargetMode="External"/><Relationship Id="rId4" Type="http://schemas.openxmlformats.org/officeDocument/2006/relationships/hyperlink" Target="https://arxiv.org/abs/2001.00577" TargetMode="External"/><Relationship Id="rId5" Type="http://schemas.openxmlformats.org/officeDocument/2006/relationships/hyperlink" Target="https://doi.org/10.3389/fpsyg.2022.912242" TargetMode="External"/><Relationship Id="rId6" Type="http://schemas.openxmlformats.org/officeDocument/2006/relationships/hyperlink" Target="https://arxiv.org/abs/2507.16291" TargetMode="External"/><Relationship Id="rId7" Type="http://schemas.openxmlformats.org/officeDocument/2006/relationships/hyperlink" Target="https://doi.org/10.3389/fpsyg.2021.685258" TargetMode="External"/><Relationship Id="rId8" Type="http://schemas.openxmlformats.org/officeDocument/2006/relationships/hyperlink" Target="https://www.orfonline.org/expert-speak/digital-arrest-scams-and-the-limits-of-domestic-enforcement" TargetMode="External"/><Relationship Id="rId9" Type="http://schemas.openxmlformats.org/officeDocument/2006/relationships/hyperlink" Target="https://www.niti.gov.in/sites/default/files/2025-04/Digital_Arrest_The_Modern_Day_Cyber_Scam.pdf" TargetMode="External"/><Relationship Id="rId10" Type="http://schemas.openxmlformats.org/officeDocument/2006/relationships/hyperlink" Target="https://thefederal.com/category/states/south/karnataka/bengaluru-digital-arrest-scam-elderly-woman-duped-of-rs-24-cr-cyber-police-arrest-six-24431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04000" y="825500"/>
            <a:ext cx="4889500" cy="5207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ctr"/>
          </a:p>
        </p:txBody>
      </p:sp>
      <p:pic>
        <p:nvPicPr>
          <p:cNvPr id="4" name="Picture 3" descr="hero_sh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900" y="914400"/>
            <a:ext cx="47117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8500" y="952500"/>
            <a:ext cx="558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470"/>
                </a:solidFill>
                <a:latin typeface="Consolas"/>
              </a:rPr>
              <a:t>IQOO HACKATHON 2026 · HYDERABAD CITY BATTLE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1301750"/>
            <a:ext cx="5588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200" b="1">
                <a:solidFill>
                  <a:srgbClr val="0F1319"/>
                </a:solidFill>
                <a:latin typeface="Segoe UI Black"/>
              </a:rPr>
              <a:t>Chetaka</a:t>
            </a:r>
          </a:p>
        </p:txBody>
      </p:sp>
      <p:sp>
        <p:nvSpPr>
          <p:cNvPr id="7" name="Rectangle 6"/>
          <p:cNvSpPr/>
          <p:nvPr/>
        </p:nvSpPr>
        <p:spPr>
          <a:xfrm>
            <a:off x="698500" y="2730500"/>
            <a:ext cx="381000" cy="38100"/>
          </a:xfrm>
          <a:prstGeom prst="rect">
            <a:avLst/>
          </a:prstGeom>
          <a:solidFill>
            <a:srgbClr val="158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9500" y="2730500"/>
            <a:ext cx="381000" cy="38100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0500" y="2730500"/>
            <a:ext cx="381000" cy="3810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500" y="2984500"/>
            <a:ext cx="5334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F1319"/>
                </a:solidFill>
                <a:latin typeface="Segoe UI Semibold"/>
              </a:rPr>
              <a:t>The on-device scam shield that follows the call into the payment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8500" y="4064000"/>
            <a:ext cx="1968500" cy="342900"/>
          </a:xfrm>
          <a:prstGeom prst="roundRect">
            <a:avLst>
              <a:gd name="adj" fmla="val 3500"/>
            </a:avLst>
          </a:prstGeom>
          <a:solidFill>
            <a:srgbClr val="EAF4FB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580C4"/>
                </a:solidFill>
                <a:latin typeface="Consolas"/>
              </a:rPr>
              <a:t>TRACK · FINTECH &amp; COMMERCE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000" y="4064000"/>
            <a:ext cx="1968500" cy="3429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A45"/>
                </a:solidFill>
                <a:latin typeface="Consolas"/>
              </a:rPr>
              <a:t>FRAUD PREVENTION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" y="4673600"/>
            <a:ext cx="4826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Consolas"/>
              </a:rPr>
              <a:t>TEAM MATRIX · MAHATMA GANDHI INSTITUTE OF TECHNOLOGY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8500" y="4940300"/>
            <a:ext cx="1809750" cy="8763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Stephen Raj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Segoe UI"/>
              </a:rPr>
              <a:t>Team lead · Android &amp; call pipeline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1580C4"/>
                </a:solidFill>
                <a:latin typeface="Consolas"/>
                <a:hlinkClick r:id="rId3"/>
              </a:rPr>
              <a:t>ystephenraj24@gmail.com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3500" y="4940300"/>
            <a:ext cx="1809750" cy="8763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Pranav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Segoe UI"/>
              </a:rPr>
              <a:t>On-device AI &amp; scam dataset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1580C4"/>
                </a:solidFill>
                <a:latin typeface="Consolas"/>
                <a:hlinkClick r:id="rId4"/>
              </a:rPr>
              <a:t>pranavbaddam17@gmail.com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8500" y="4940300"/>
            <a:ext cx="1809750" cy="8763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Sujit Reddy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Segoe UI"/>
              </a:rPr>
              <a:t>Product, UX &amp; demo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800" b="0">
                <a:solidFill>
                  <a:srgbClr val="1580C4"/>
                </a:solidFill>
                <a:latin typeface="Consolas"/>
                <a:hlinkClick r:id="rId5"/>
              </a:rPr>
              <a:t>sujitreddy78@gmail.com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445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80C4"/>
                </a:solidFill>
                <a:latin typeface="Consola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698500"/>
            <a:ext cx="9906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319"/>
                </a:solidFill>
                <a:latin typeface="Segoe UI Black"/>
              </a:rPr>
              <a:t>Digital-arrest scams turn one phone call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319"/>
                </a:solidFill>
                <a:latin typeface="Segoe UI Black"/>
              </a:rPr>
              <a:t>into a UPI transfer within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0" y="736600"/>
            <a:ext cx="1333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2A0"/>
                </a:solidFill>
                <a:latin typeface="Consolas"/>
              </a:rPr>
              <a:t>02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31500" y="952500"/>
            <a:ext cx="254000" cy="25400"/>
          </a:xfrm>
          <a:prstGeom prst="rect">
            <a:avLst/>
          </a:prstGeom>
          <a:solidFill>
            <a:srgbClr val="158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85500" y="952500"/>
            <a:ext cx="254000" cy="25400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39500" y="952500"/>
            <a:ext cx="254000" cy="2540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8500" y="1905000"/>
            <a:ext cx="1714500" cy="95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1319"/>
                </a:solidFill>
                <a:latin typeface="Segoe UI Black"/>
              </a:rPr>
              <a:t>2,41,537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Segoe UI"/>
              </a:rPr>
              <a:t>Digital-arrest cases in India, 2022–2025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0000" y="1905000"/>
            <a:ext cx="1714500" cy="95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22B20"/>
                </a:solidFill>
                <a:latin typeface="Segoe UI Black"/>
              </a:rPr>
              <a:t>₹3,012 cr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Segoe UI"/>
              </a:rPr>
              <a:t>Lost to those cases in the same period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1500" y="1905000"/>
            <a:ext cx="1714500" cy="95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F1319"/>
                </a:solidFill>
                <a:latin typeface="Segoe UI Black"/>
              </a:rPr>
              <a:t>46%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Segoe UI"/>
              </a:rPr>
              <a:t>Of operations run from Cambodia, Myanmar and Laos</a:t>
            </a:r>
          </a:p>
        </p:txBody>
      </p:sp>
      <p:pic>
        <p:nvPicPr>
          <p:cNvPr id="12" name="Picture 11" descr="worried_cou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3048000"/>
            <a:ext cx="5270500" cy="2349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8500" y="5499100"/>
            <a:ext cx="527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2A0"/>
                </a:solidFill>
                <a:latin typeface="Consolas"/>
              </a:rPr>
              <a:t>Source: MHA and I4C data cited by Chetry (2026), Observer Research Foundation [7]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500" y="1905000"/>
            <a:ext cx="5207000" cy="2667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7000" y="2044700"/>
            <a:ext cx="2540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Consolas"/>
              </a:rPr>
              <a:t>WHERE THE FRICTION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2286000"/>
            <a:ext cx="381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22B20"/>
                </a:solidFill>
                <a:latin typeface="Segoe UI Black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86000"/>
            <a:ext cx="4445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Protection looks at the wrong thing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Caller-ID apps judge who is calling. Scammers rotate clean numbers and pass every check.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3035300"/>
            <a:ext cx="381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22B20"/>
                </a:solidFill>
                <a:latin typeface="Segoe UI Black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035300"/>
            <a:ext cx="4445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Protection stops at the wrong moment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Call warnings end when the call ends. The money moves minutes later, inside the payment 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3784600"/>
            <a:ext cx="381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22B20"/>
                </a:solidFill>
                <a:latin typeface="Segoe UI Blac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84600"/>
            <a:ext cx="4445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Protection speaks the wrong language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Scam calls in Hyderabad mix Telugu, Hindi and English. Most tools understand English only.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6500" y="4762500"/>
            <a:ext cx="5207000" cy="952500"/>
          </a:xfrm>
          <a:prstGeom prst="roundRect">
            <a:avLst>
              <a:gd name="adj" fmla="val 3500"/>
            </a:avLst>
          </a:prstGeom>
          <a:solidFill>
            <a:srgbClr val="FDECEA"/>
          </a:solidFill>
          <a:ln w="12700">
            <a:solidFill>
              <a:srgbClr val="F3C9C5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Consolas"/>
              </a:rPr>
              <a:t>WHO GETS HURT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Parents at home and first-time UPI users — people who trust authority, are isolated in the moment, and are pushed to act before they can check with anyone [4][6].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500" y="635000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CHETAKA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8500" y="6350000"/>
            <a:ext cx="444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FINTECH &amp; COMMERCE · FRAUD PREVENTION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445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80C4"/>
                </a:solidFill>
                <a:latin typeface="Consolas"/>
              </a:rPr>
              <a:t>CASE STUDY · THIS ALREADY HAPPENED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698500"/>
            <a:ext cx="9906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319"/>
                </a:solidFill>
                <a:latin typeface="Segoe UI Black"/>
              </a:rPr>
              <a:t>₹24 crore, 26 transfers, 73 days of fear.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0" y="736600"/>
            <a:ext cx="1333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2A0"/>
                </a:solidFill>
                <a:latin typeface="Consolas"/>
              </a:rPr>
              <a:t>03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31500" y="952500"/>
            <a:ext cx="254000" cy="25400"/>
          </a:xfrm>
          <a:prstGeom prst="rect">
            <a:avLst/>
          </a:prstGeom>
          <a:solidFill>
            <a:srgbClr val="158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85500" y="952500"/>
            <a:ext cx="254000" cy="25400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39500" y="952500"/>
            <a:ext cx="254000" cy="2540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8500" y="1587500"/>
            <a:ext cx="5715000" cy="3149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470"/>
                </a:solidFill>
                <a:latin typeface="Consolas"/>
              </a:rPr>
              <a:t>BENGALURU · FEBRUARY–APRIL 2026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700" b="1">
                <a:solidFill>
                  <a:srgbClr val="0F1319"/>
                </a:solidFill>
                <a:latin typeface="Segoe UI Semibold"/>
              </a:rPr>
              <a:t>Lakshmi Ramamurthy, 74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5C6470"/>
                </a:solidFill>
                <a:latin typeface="Segoe UI"/>
              </a:rPr>
              <a:t>Targeted after a property sale. Callers posing as CBI and Enforcement Directorate officers kept her under “digital arrest” from 10 February to 24 April 2026.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D22B20"/>
                </a:solidFill>
                <a:latin typeface="Segoe UI Semibold"/>
              </a:rPr>
              <a:t>The call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Impersonated federal investigators; threatened arrest and asset seizure.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D22B20"/>
                </a:solidFill>
                <a:latin typeface="Segoe UI Semibold"/>
              </a:rPr>
              <a:t>The pressure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Weeks of daily check-ins. She told nobody — isolation is the tactic.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D22B20"/>
                </a:solidFill>
                <a:latin typeface="Segoe UI Semibold"/>
              </a:rPr>
              <a:t>The money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₹24 crore moved in 26 transactions to 23 mule accounts across 10 banks.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D22B20"/>
                </a:solidFill>
                <a:latin typeface="Segoe UI Semibold"/>
              </a:rPr>
              <a:t>The end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Police intervened on 24 April, saving ₹3 crore. Six arrested; ₹5.5 crore recovered.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800" b="0">
                <a:solidFill>
                  <a:srgbClr val="8A92A0"/>
                </a:solidFill>
                <a:latin typeface="Consolas"/>
              </a:rPr>
              <a:t>Source: The Federal, 25 May 2026 [9]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8500" y="4876800"/>
            <a:ext cx="5715000" cy="1130300"/>
          </a:xfrm>
          <a:prstGeom prst="roundRect">
            <a:avLst>
              <a:gd name="adj" fmla="val 3500"/>
            </a:avLst>
          </a:prstGeom>
          <a:solidFill>
            <a:srgbClr val="EAF4FB"/>
          </a:solidFill>
          <a:ln w="12700">
            <a:solidFill>
              <a:srgbClr val="BEDCF0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580C4"/>
                </a:solidFill>
                <a:latin typeface="Consolas"/>
              </a:rPr>
              <a:t>WHERE CHETAKA WOULD HAVE STEPPED IN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>
                <a:solidFill>
                  <a:srgbClr val="333A45"/>
                </a:solidFill>
                <a:latin typeface="Segoe UI"/>
              </a:rPr>
              <a:t>Transaction 1. An unknown number, a long call, then a banking app — the payment guard fires before the first rupee moves, and her son is alerted the same minute.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1000" y="1638300"/>
            <a:ext cx="4826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Consolas"/>
              </a:rPr>
              <a:t>HOW MANY PEOPLE FACE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31000" y="1905000"/>
            <a:ext cx="2349500" cy="1111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F1319"/>
                </a:solidFill>
                <a:latin typeface="Segoe UI Black"/>
              </a:rPr>
              <a:t>2,41,537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5C6470"/>
                </a:solidFill>
                <a:latin typeface="Segoe UI"/>
              </a:rPr>
              <a:t>Digital-arrest cases reported in India, 2022–2025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07500" y="1905000"/>
            <a:ext cx="2349500" cy="1111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22B20"/>
                </a:solidFill>
                <a:latin typeface="Segoe UI Black"/>
              </a:rPr>
              <a:t>₹3,012 cr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5C6470"/>
                </a:solidFill>
                <a:latin typeface="Segoe UI"/>
              </a:rPr>
              <a:t>Lost in those cases (Ministry of Home Affairs data)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1000" y="3175000"/>
            <a:ext cx="2349500" cy="1111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22B20"/>
                </a:solidFill>
                <a:latin typeface="Segoe UI Black"/>
              </a:rPr>
              <a:t>₹1.25 lakh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5C6470"/>
                </a:solidFill>
                <a:latin typeface="Segoe UI"/>
              </a:rPr>
              <a:t>Average loss per reported case (derived from the two MHA figures)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07500" y="3175000"/>
            <a:ext cx="2349500" cy="1111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B8A50"/>
                </a:solidFill>
                <a:latin typeface="Segoe UI Black"/>
              </a:rPr>
              <a:t>6,998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5C6470"/>
                </a:solidFill>
                <a:latin typeface="Segoe UI"/>
              </a:rPr>
              <a:t>Indians rescued from scam compounds abroad, 2022–2025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1000" y="4508500"/>
            <a:ext cx="4826000" cy="1498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470"/>
                </a:solidFill>
                <a:latin typeface="Consolas"/>
              </a:rPr>
              <a:t>WHO IS TARGETED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333A45"/>
                </a:solidFill>
                <a:latin typeface="Segoe UI"/>
              </a:rPr>
              <a:t>— Retirees holding one large, recently liquid sum.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333A45"/>
                </a:solidFill>
                <a:latin typeface="Segoe UI"/>
              </a:rPr>
              <a:t>— First-time digital payment users who trust authority.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333A45"/>
                </a:solidFill>
                <a:latin typeface="Segoe UI"/>
              </a:rPr>
              <a:t>— People alone at home, told to keep the call secret.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333A45"/>
                </a:solidFill>
                <a:latin typeface="Segoe UI"/>
              </a:rPr>
              <a:t>— 46% of the operations run from Cambodia, Myanmar and Laos.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800" b="0">
                <a:solidFill>
                  <a:srgbClr val="8A92A0"/>
                </a:solidFill>
                <a:latin typeface="Consolas"/>
              </a:rPr>
              <a:t>Figures as cited by Chetry (2026), Observer Research Foundation [7]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" y="635000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CHETAKA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0" y="6350000"/>
            <a:ext cx="444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FINTECH &amp; COMMERCE · FRAUD PREVENTION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445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80C4"/>
                </a:solidFill>
                <a:latin typeface="Consolas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698500"/>
            <a:ext cx="9906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319"/>
                </a:solidFill>
                <a:latin typeface="Segoe UI Black"/>
              </a:rPr>
              <a:t>Warn during the call. Pause the payment after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0" y="736600"/>
            <a:ext cx="1333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2A0"/>
                </a:solidFill>
                <a:latin typeface="Consolas"/>
              </a:rPr>
              <a:t>04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31500" y="952500"/>
            <a:ext cx="254000" cy="25400"/>
          </a:xfrm>
          <a:prstGeom prst="rect">
            <a:avLst/>
          </a:prstGeom>
          <a:solidFill>
            <a:srgbClr val="158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85500" y="952500"/>
            <a:ext cx="254000" cy="25400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39500" y="952500"/>
            <a:ext cx="254000" cy="2540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1619250"/>
            <a:ext cx="29845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319"/>
                </a:solidFill>
                <a:latin typeface="Segoe UI Semibold"/>
              </a:rPr>
              <a:t>One shield across the whole scam path — call, payment, family.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7000" y="1587500"/>
            <a:ext cx="2444750" cy="889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1580C4"/>
                </a:solidFill>
                <a:latin typeface="Consolas"/>
              </a:rPr>
              <a:t>UNDERSTANDS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What the caller says, in Telugu, Hindi and English — on the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08750" y="1587500"/>
            <a:ext cx="2444750" cy="889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D22B20"/>
                </a:solidFill>
                <a:latin typeface="Consolas"/>
              </a:rPr>
              <a:t>INTERVENES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Before the money moves — the payment guard needs no call audio.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80500" y="1587500"/>
            <a:ext cx="2444750" cy="889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1B8A50"/>
                </a:solidFill>
                <a:latin typeface="Consolas"/>
              </a:rPr>
              <a:t>INVOLVES FAMILY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A trusted person is alerted at critical risk, in real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8500" y="2730500"/>
            <a:ext cx="3492500" cy="2921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580C4"/>
                </a:solidFill>
                <a:latin typeface="Consolas"/>
              </a:rPr>
              <a:t>1 · DURING CALL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</a:pPr>
            <a:r>
              <a:rPr sz="1600" b="1">
                <a:solidFill>
                  <a:srgbClr val="0F1319"/>
                </a:solidFill>
                <a:latin typeface="Segoe UI Semibold"/>
              </a:rPr>
              <a:t>Warn mid-call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1. Unknown number calls.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2. Tap speaker: live listening needs speakerphone.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3. On-device transcript scored live.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4. High risk: full-screen alert + haptics.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8000" y="2730500"/>
            <a:ext cx="3492500" cy="2921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22B20"/>
                </a:solidFill>
                <a:latin typeface="Consolas"/>
              </a:rPr>
              <a:t>2 · AFTER CALL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</a:pPr>
            <a:r>
              <a:rPr sz="1600" b="1">
                <a:solidFill>
                  <a:srgbClr val="0F1319"/>
                </a:solidFill>
                <a:latin typeface="Segoe UI Semibold"/>
              </a:rPr>
              <a:t>Pause the payment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1. Call ends; length and caller kept.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2. UPI or bank app opens within 15 min.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3. 10-second pause screen.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4. One tap to skip if the payee is known.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5. Skip reason logged: known person, delivery, cab.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7500" y="2730500"/>
            <a:ext cx="3492500" cy="2921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8A50"/>
                </a:solidFill>
                <a:latin typeface="Consolas"/>
              </a:rPr>
              <a:t>3 · FAMILY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</a:pPr>
            <a:r>
              <a:rPr sz="1600" b="1">
                <a:solidFill>
                  <a:srgbClr val="0F1319"/>
                </a:solidFill>
                <a:latin typeface="Segoe UI Semibold"/>
              </a:rPr>
              <a:t>Bring family in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1. Risk reaches critical.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2. Paired family phone notified.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3. One tap to call back.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4. Opt-in per contact; no audio shared.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500" y="635000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CHETAKA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0" y="6350000"/>
            <a:ext cx="444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FINTECH &amp; COMMERCE · FRAUD PREVENTION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445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80C4"/>
                </a:solidFill>
                <a:latin typeface="Consolas"/>
              </a:rPr>
              <a:t>ON-DEVICE &amp;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698500"/>
            <a:ext cx="9906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319"/>
                </a:solidFill>
                <a:latin typeface="Segoe UI Black"/>
              </a:rPr>
              <a:t>Three AI tiers on the phone. Zero cloud AI calls.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0" y="736600"/>
            <a:ext cx="1333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2A0"/>
                </a:solidFill>
                <a:latin typeface="Consolas"/>
              </a:rPr>
              <a:t>05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31500" y="952500"/>
            <a:ext cx="254000" cy="25400"/>
          </a:xfrm>
          <a:prstGeom prst="rect">
            <a:avLst/>
          </a:prstGeom>
          <a:solidFill>
            <a:srgbClr val="158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85500" y="952500"/>
            <a:ext cx="254000" cy="25400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39500" y="952500"/>
            <a:ext cx="254000" cy="2540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1638300"/>
            <a:ext cx="1587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2A0"/>
                </a:solidFill>
                <a:latin typeface="Consolas"/>
              </a:rPr>
              <a:t>PHONE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8500" y="1905000"/>
            <a:ext cx="1587500" cy="92286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Voice · speaker only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470"/>
                </a:solidFill>
                <a:latin typeface="Segoe UI"/>
              </a:rPr>
              <a:t>MediaRecorder VOICE_RECOGNITION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8500" y="2904066"/>
            <a:ext cx="1587500" cy="92286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Telephony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470"/>
                </a:solidFill>
                <a:latin typeface="Segoe UI"/>
              </a:rPr>
              <a:t>Call state, caller, duration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8500" y="3903133"/>
            <a:ext cx="1587500" cy="92286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App usage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470"/>
                </a:solidFill>
                <a:latin typeface="Segoe UI"/>
              </a:rPr>
              <a:t>UPI / bank app in foreground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500" y="1638300"/>
            <a:ext cx="1905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2A0"/>
                </a:solidFill>
                <a:latin typeface="Consolas"/>
              </a:rPr>
              <a:t>TIER 0 · ALWAYS 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7500" y="1905000"/>
            <a:ext cx="1905000" cy="1422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1580C4"/>
                </a:solidFill>
                <a:latin typeface="Consolas"/>
              </a:rPr>
              <a:t>CPU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Offline speech-to-text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470"/>
                </a:solidFill>
                <a:latin typeface="Segoe UI"/>
              </a:rPr>
              <a:t>Android SpeechRecognizer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95600" y="1905000"/>
            <a:ext cx="1828800" cy="25400"/>
          </a:xfrm>
          <a:prstGeom prst="rect">
            <a:avLst/>
          </a:prstGeom>
          <a:solidFill>
            <a:srgbClr val="158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57500" y="3403600"/>
            <a:ext cx="1905000" cy="1422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1580C4"/>
                </a:solidFill>
                <a:latin typeface="Consolas"/>
              </a:rPr>
              <a:t>CPU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Rules &amp; phrases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470"/>
                </a:solidFill>
                <a:latin typeface="Segoe UI"/>
              </a:rPr>
              <a:t>Unknown caller, call length, multilingual scam phrases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95600" y="3403600"/>
            <a:ext cx="1828800" cy="25400"/>
          </a:xfrm>
          <a:prstGeom prst="rect">
            <a:avLst/>
          </a:prstGeom>
          <a:solidFill>
            <a:srgbClr val="158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6500" y="1638300"/>
            <a:ext cx="2095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2A0"/>
                </a:solidFill>
                <a:latin typeface="Consolas"/>
              </a:rPr>
              <a:t>TIER 1 · RISK ≥ 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6500" y="1905000"/>
            <a:ext cx="2095500" cy="1422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1E3C96"/>
                </a:solidFill>
                <a:latin typeface="Consolas"/>
              </a:rPr>
              <a:t>SNAPDRAGON NPU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Whisper (open-source)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470"/>
                </a:solidFill>
                <a:latin typeface="Segoe UI"/>
              </a:rPr>
              <a:t>Code-mixed Telugu · Hindi · English transcription [1]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4600" y="1905000"/>
            <a:ext cx="2019300" cy="25400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6500" y="3403600"/>
            <a:ext cx="2095500" cy="1422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1E3C96"/>
                </a:solidFill>
                <a:latin typeface="Consolas"/>
              </a:rPr>
              <a:t>SNAPDRAGON NPU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Scam classifier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470"/>
                </a:solidFill>
                <a:latin typeface="Segoe UI"/>
              </a:rPr>
              <a:t>Small transformer, LiteRT + Qualcomm NPU delegate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54600" y="3403600"/>
            <a:ext cx="2019300" cy="25400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6000" y="1638300"/>
            <a:ext cx="1905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2A0"/>
                </a:solidFill>
                <a:latin typeface="Consolas"/>
              </a:rPr>
              <a:t>TIER 2 · RISK ≥ 60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6000" y="1905000"/>
            <a:ext cx="1905000" cy="1422400"/>
          </a:xfrm>
          <a:prstGeom prst="roundRect">
            <a:avLst>
              <a:gd name="adj" fmla="val 3500"/>
            </a:avLst>
          </a:prstGeom>
          <a:solidFill>
            <a:srgbClr val="EAF4FB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Risk engine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470"/>
                </a:solidFill>
                <a:latin typeface="Segoe UI"/>
              </a:rPr>
              <a:t>Explainable 0–100 score with reasons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4100" y="1905000"/>
            <a:ext cx="1828800" cy="2540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6000" y="3403600"/>
            <a:ext cx="1905000" cy="1422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D22B20"/>
                </a:solidFill>
                <a:latin typeface="Consolas"/>
              </a:rPr>
              <a:t>ON-DEVICE SLM · STRETCH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Gemma 3 1B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470"/>
                </a:solidFill>
                <a:latin typeface="Segoe UI"/>
              </a:rPr>
              <a:t>Explains the scam tactic in the user's language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4100" y="3403600"/>
            <a:ext cx="1828800" cy="2540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25000" y="1638300"/>
            <a:ext cx="19685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2A0"/>
                </a:solidFill>
                <a:latin typeface="Consolas"/>
              </a:rPr>
              <a:t>PHONE ACTIONS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25000" y="1905000"/>
            <a:ext cx="1968500" cy="92286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Alert + haptics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470"/>
                </a:solidFill>
                <a:latin typeface="Segoe UI"/>
              </a:rPr>
              <a:t>Overlay over the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63100" y="1905000"/>
            <a:ext cx="1892300" cy="2540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25000" y="2904066"/>
            <a:ext cx="1968500" cy="92286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Payment pause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470"/>
                </a:solidFill>
                <a:latin typeface="Segoe UI"/>
              </a:rPr>
              <a:t>10-second guard, one-tap skip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63100" y="2904066"/>
            <a:ext cx="1892300" cy="2540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25000" y="3903133"/>
            <a:ext cx="1968500" cy="92286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Family alert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470"/>
                </a:solidFill>
                <a:latin typeface="Segoe UI"/>
              </a:rPr>
              <a:t>Paired phone notified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63100" y="3903133"/>
            <a:ext cx="1892300" cy="2540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2540000" y="3270250"/>
            <a:ext cx="133350" cy="80010"/>
          </a:xfrm>
          <a:prstGeom prst="rightArrow">
            <a:avLst/>
          </a:prstGeom>
          <a:solidFill>
            <a:srgbClr val="8A9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4762500" y="3270250"/>
            <a:ext cx="133350" cy="80010"/>
          </a:xfrm>
          <a:prstGeom prst="rightArrow">
            <a:avLst/>
          </a:prstGeom>
          <a:solidFill>
            <a:srgbClr val="8A9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6985000" y="3270250"/>
            <a:ext cx="133350" cy="80010"/>
          </a:xfrm>
          <a:prstGeom prst="rightArrow">
            <a:avLst/>
          </a:prstGeom>
          <a:solidFill>
            <a:srgbClr val="8A9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9207500" y="3270250"/>
            <a:ext cx="133350" cy="80010"/>
          </a:xfrm>
          <a:prstGeom prst="rightArrow">
            <a:avLst/>
          </a:prstGeom>
          <a:solidFill>
            <a:srgbClr val="8A9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98500" y="4991100"/>
            <a:ext cx="3556000" cy="1206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9000" y="5080000"/>
            <a:ext cx="2540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Consolas"/>
              </a:rPr>
              <a:t>ON-DEVICE VS CLOUD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889000" y="5257800"/>
          <a:ext cx="3175000" cy="82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889000"/>
              </a:tblGrid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5C6470"/>
                          </a:solidFill>
                          <a:latin typeface="Consolas"/>
                        </a:rPr>
                        <a:t>Need</a:t>
                      </a:r>
                    </a:p>
                  </a:txBody>
                  <a:tcPr marL="63500" marR="63500" marT="38100" marB="381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5C6470"/>
                          </a:solidFill>
                          <a:latin typeface="Consolas"/>
                        </a:rPr>
                        <a:t>On-device</a:t>
                      </a:r>
                    </a:p>
                  </a:txBody>
                  <a:tcPr marL="63500" marR="63500" marT="38100" marB="381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5C6470"/>
                          </a:solidFill>
                          <a:latin typeface="Consolas"/>
                        </a:rPr>
                        <a:t>Cloud API</a:t>
                      </a:r>
                    </a:p>
                  </a:txBody>
                  <a:tcPr marL="63500" marR="63500" marT="38100" marB="38100" anchor="ctr">
                    <a:solidFill>
                      <a:srgbClr val="EEF1F6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A45"/>
                          </a:solidFill>
                          <a:latin typeface="Segoe UI"/>
                        </a:rPr>
                        <a:t>Private call audio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A45"/>
                          </a:solidFill>
                          <a:latin typeface="Segoe UI"/>
                        </a:rPr>
                        <a:t>Never leaves phone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A45"/>
                          </a:solidFill>
                          <a:latin typeface="Segoe UI"/>
                        </a:rPr>
                        <a:t>Uploaded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A45"/>
                          </a:solidFill>
                          <a:latin typeface="Segoe UI"/>
                        </a:rPr>
                        <a:t>Mid-call latency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A45"/>
                          </a:solidFill>
                          <a:latin typeface="Segoe UI"/>
                        </a:rPr>
                        <a:t>No network hop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A45"/>
                          </a:solidFill>
                          <a:latin typeface="Segoe UI"/>
                        </a:rPr>
                        <a:t>Network-bound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A45"/>
                          </a:solidFill>
                          <a:latin typeface="Segoe UI"/>
                        </a:rPr>
                        <a:t>Weak signal areas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A45"/>
                          </a:solidFill>
                          <a:latin typeface="Segoe UI"/>
                        </a:rPr>
                        <a:t>Works offline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A45"/>
                          </a:solidFill>
                          <a:latin typeface="Segoe UI"/>
                        </a:rPr>
                        <a:t>Fails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A45"/>
                          </a:solidFill>
                          <a:latin typeface="Segoe UI"/>
                        </a:rPr>
                        <a:t>Running cost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A45"/>
                          </a:solidFill>
                          <a:latin typeface="Segoe UI"/>
                        </a:rPr>
                        <a:t>Zero per call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A45"/>
                          </a:solidFill>
                          <a:latin typeface="Segoe UI"/>
                        </a:rPr>
                        <a:t>Per request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4445000" y="4991100"/>
            <a:ext cx="3302000" cy="1206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Consolas"/>
              </a:rPr>
              <a:t>FALLBACK LADDER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33A45"/>
                </a:solidFill>
                <a:latin typeface="Segoe UI"/>
              </a:rPr>
              <a:t>— NPU loads: full tiers, latency shown on screen.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33A45"/>
                </a:solidFill>
                <a:latin typeface="Segoe UI"/>
              </a:rPr>
              <a:t>— NPU fails: models on GPU or CPU.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333A45"/>
                </a:solidFill>
                <a:latin typeface="Segoe UI"/>
              </a:rPr>
              <a:t>— Models fail: rules + phrases; all flows still work.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37500" y="4991100"/>
            <a:ext cx="3556000" cy="1206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Consolas"/>
              </a:rPr>
              <a:t>PHONE HARDWARE USED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>
                <a:solidFill>
                  <a:srgbClr val="333A45"/>
                </a:solidFill>
                <a:latin typeface="Segoe UI"/>
              </a:rPr>
              <a:t>Snapdragon NPU · Microphone · Haptics · Telephony · Overlays · Camera (QR check)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Consolas"/>
              </a:rPr>
              <a:t>HOW WE GET CALL AUDIO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850" b="0">
                <a:solidFill>
                  <a:srgbClr val="333A45"/>
                </a:solidFill>
                <a:latin typeface="Segoe UI"/>
              </a:rPr>
              <a:t>No app gets the downlink stream. We record the room on speakerphone (MediaRecorder, VOICE_RECOGNITION). AccessibilityService rejected — Play policy risk. CallScreeningService is metadata only, so it feeds the guard, not the transcript.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8500" y="635000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CHETAKA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8500" y="6350000"/>
            <a:ext cx="444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FINTECH &amp; COMMERCE · FRAUD PREVENTION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445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80C4"/>
                </a:solidFill>
                <a:latin typeface="Consolas"/>
              </a:rPr>
              <a:t>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698500"/>
            <a:ext cx="9906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319"/>
                </a:solidFill>
                <a:latin typeface="Segoe UI Black"/>
              </a:rPr>
              <a:t>Native Android. Local AI runtime. No backend for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0" y="736600"/>
            <a:ext cx="1333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2A0"/>
                </a:solidFill>
                <a:latin typeface="Consolas"/>
              </a:rPr>
              <a:t>06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31500" y="952500"/>
            <a:ext cx="254000" cy="25400"/>
          </a:xfrm>
          <a:prstGeom prst="rect">
            <a:avLst/>
          </a:prstGeom>
          <a:solidFill>
            <a:srgbClr val="158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85500" y="952500"/>
            <a:ext cx="254000" cy="25400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39500" y="952500"/>
            <a:ext cx="254000" cy="2540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8500" y="1587500"/>
            <a:ext cx="3492500" cy="2667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580C4"/>
                </a:solidFill>
                <a:latin typeface="Consolas"/>
              </a:rPr>
              <a:t>MOBILE PLATFORM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>
                <a:solidFill>
                  <a:srgbClr val="0F1319"/>
                </a:solidFill>
                <a:latin typeface="Segoe UI Semibold"/>
              </a:rPr>
              <a:t>Native Android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1000"/>
              </a:spcAft>
            </a:pPr>
            <a:r>
              <a:rPr sz="1050" b="0">
                <a:solidFill>
                  <a:srgbClr val="5C6470"/>
                </a:solidFill>
                <a:latin typeface="Segoe UI"/>
              </a:rPr>
              <a:t>Direct access to telephony, overlays and the NPU.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Kotlin 2.0</a:t>
            </a:r>
            <a:r>
              <a:rPr sz="1200">
                <a:solidFill>
                  <a:srgbClr val="5C6470"/>
                </a:solidFill>
                <a:latin typeface="Segoe UI"/>
              </a:rPr>
              <a:t>  ·  Language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Jetpack Compose</a:t>
            </a:r>
            <a:r>
              <a:rPr sz="1200">
                <a:solidFill>
                  <a:srgbClr val="5C6470"/>
                </a:solidFill>
                <a:latin typeface="Segoe UI"/>
              </a:rPr>
              <a:t>  ·  UI and overlays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Coroutines + Flow</a:t>
            </a:r>
            <a:r>
              <a:rPr sz="1200">
                <a:solidFill>
                  <a:srgbClr val="5C6470"/>
                </a:solidFill>
                <a:latin typeface="Segoe UI"/>
              </a:rPr>
              <a:t>  ·  Real-time pipeline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Foreground Service</a:t>
            </a:r>
            <a:r>
              <a:rPr sz="1200">
                <a:solidFill>
                  <a:srgbClr val="5C6470"/>
                </a:solidFill>
                <a:latin typeface="Segoe UI"/>
              </a:rPr>
              <a:t>  ·  Listening during calls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minSdk 29 · targetSdk 35</a:t>
            </a:r>
            <a:r>
              <a:rPr sz="1200">
                <a:solidFill>
                  <a:srgbClr val="5C6470"/>
                </a:solidFill>
                <a:latin typeface="Segoe UI"/>
              </a:rPr>
              <a:t>  ·  Android 15 on the loaner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Android Studio + Gradle KTS</a:t>
            </a:r>
            <a:r>
              <a:rPr sz="1200">
                <a:solidFill>
                  <a:srgbClr val="5C6470"/>
                </a:solidFill>
                <a:latin typeface="Segoe UI"/>
              </a:rPr>
              <a:t>  ·  Build and profiling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JUnit + Compose UI test</a:t>
            </a:r>
            <a:r>
              <a:rPr sz="1200">
                <a:solidFill>
                  <a:srgbClr val="5C6470"/>
                </a:solidFill>
                <a:latin typeface="Segoe UI"/>
              </a:rPr>
              <a:t>  ·  Metrics harness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8000" y="1587500"/>
            <a:ext cx="3492500" cy="2667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580C4"/>
                </a:solidFill>
                <a:latin typeface="Consolas"/>
              </a:rPr>
              <a:t>LOCAL AI RUNTIME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>
                <a:solidFill>
                  <a:srgbClr val="0F1319"/>
                </a:solidFill>
                <a:latin typeface="Segoe UI Semibold"/>
              </a:rPr>
              <a:t>On-device models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1000"/>
              </a:spcAft>
            </a:pPr>
            <a:r>
              <a:rPr sz="1050" b="0">
                <a:solidFill>
                  <a:srgbClr val="5C6470"/>
                </a:solidFill>
                <a:latin typeface="Segoe UI"/>
              </a:rPr>
              <a:t>Open-source models, quantised for the phone.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LiteRT + QNN delegate</a:t>
            </a:r>
            <a:r>
              <a:rPr sz="1200">
                <a:solidFill>
                  <a:srgbClr val="5C6470"/>
                </a:solidFill>
                <a:latin typeface="Segoe UI"/>
              </a:rPr>
              <a:t>  ·  Classifier on NPU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whisper.cpp · Whisper small</a:t>
            </a:r>
            <a:r>
              <a:rPr sz="1200">
                <a:solidFill>
                  <a:srgbClr val="5C6470"/>
                </a:solidFill>
                <a:latin typeface="Segoe UI"/>
              </a:rPr>
              <a:t>  ·  Speech-to-text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MediaPipe LLM Inference</a:t>
            </a:r>
            <a:r>
              <a:rPr sz="1200">
                <a:solidFill>
                  <a:srgbClr val="5C6470"/>
                </a:solidFill>
                <a:latin typeface="Segoe UI"/>
              </a:rPr>
              <a:t>  ·  Gemma 3 1B (stretch)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SpeechRecognizer</a:t>
            </a:r>
            <a:r>
              <a:rPr sz="1200">
                <a:solidFill>
                  <a:srgbClr val="5C6470"/>
                </a:solidFill>
                <a:latin typeface="Segoe UI"/>
              </a:rPr>
              <a:t>  ·  Offline fallback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int8 quantisation</a:t>
            </a:r>
            <a:r>
              <a:rPr sz="1200">
                <a:solidFill>
                  <a:srgbClr val="5C6470"/>
                </a:solidFill>
                <a:latin typeface="Segoe UI"/>
              </a:rPr>
              <a:t>  ·  Classifier ~25 MB · Whisper ~180 MB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Gemma 3 1B int4</a:t>
            </a:r>
            <a:r>
              <a:rPr sz="1200">
                <a:solidFill>
                  <a:srgbClr val="5C6470"/>
                </a:solidFill>
                <a:latin typeface="Segoe UI"/>
              </a:rPr>
              <a:t>  ·  ~550 MB, loaded only at tier 2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All weights shipped in APK</a:t>
            </a:r>
            <a:r>
              <a:rPr sz="1200">
                <a:solidFill>
                  <a:srgbClr val="5C6470"/>
                </a:solidFill>
                <a:latin typeface="Segoe UI"/>
              </a:rPr>
              <a:t>  ·  No model download at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7500" y="1587500"/>
            <a:ext cx="3492500" cy="2667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580C4"/>
                </a:solidFill>
                <a:latin typeface="Consolas"/>
              </a:rPr>
              <a:t>DATA &amp; SERVICES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1">
                <a:solidFill>
                  <a:srgbClr val="0F1319"/>
                </a:solidFill>
                <a:latin typeface="Segoe UI Semibold"/>
              </a:rPr>
              <a:t>Local first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1000"/>
              </a:spcAft>
            </a:pPr>
            <a:r>
              <a:rPr sz="1050" b="0">
                <a:solidFill>
                  <a:srgbClr val="5C6470"/>
                </a:solidFill>
                <a:latin typeface="Segoe UI"/>
              </a:rPr>
              <a:t>Only the family alert touches the network. Office Kit mirrors the debug HUD — per-segment inference latency in ms and the live risk score — without interrupting the call.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Room + SQLCipher</a:t>
            </a:r>
            <a:r>
              <a:rPr sz="1200">
                <a:solidFill>
                  <a:srgbClr val="5C6470"/>
                </a:solidFill>
                <a:latin typeface="Segoe UI"/>
              </a:rPr>
              <a:t>  ·  Encrypted local store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TelephonyManager</a:t>
            </a:r>
            <a:r>
              <a:rPr sz="1200">
                <a:solidFill>
                  <a:srgbClr val="5C6470"/>
                </a:solidFill>
                <a:latin typeface="Segoe UI"/>
              </a:rPr>
              <a:t>  ·  Call state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UsageStatsManager</a:t>
            </a:r>
            <a:r>
              <a:rPr sz="1200">
                <a:solidFill>
                  <a:srgbClr val="5C6470"/>
                </a:solidFill>
                <a:latin typeface="Segoe UI"/>
              </a:rPr>
              <a:t>  ·  Payment app watch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Firebase Cloud Messaging</a:t>
            </a:r>
            <a:r>
              <a:rPr sz="1200">
                <a:solidFill>
                  <a:srgbClr val="5C6470"/>
                </a:solidFill>
                <a:latin typeface="Segoe UI"/>
              </a:rPr>
              <a:t>  ·  Family alert relay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319"/>
                </a:solidFill>
                <a:latin typeface="Segoe UI"/>
              </a:rPr>
              <a:t>iQOO Office Kit</a:t>
            </a:r>
            <a:r>
              <a:rPr sz="1200">
                <a:solidFill>
                  <a:srgbClr val="5C6470"/>
                </a:solidFill>
                <a:latin typeface="Segoe UI"/>
              </a:rPr>
              <a:t>  ·  Debug HUD mirrored to laptop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8500" y="4356100"/>
            <a:ext cx="10795000" cy="571500"/>
          </a:xfrm>
          <a:prstGeom prst="roundRect">
            <a:avLst>
              <a:gd name="adj" fmla="val 3500"/>
            </a:avLst>
          </a:prstGeom>
          <a:solidFill>
            <a:srgbClr val="EAF4FB"/>
          </a:solidFill>
          <a:ln w="12700">
            <a:solidFill>
              <a:srgbClr val="BEDCF0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8500" y="5029200"/>
            <a:ext cx="10795000" cy="10033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000" y="5118100"/>
            <a:ext cx="5715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Consolas"/>
              </a:rPr>
              <a:t>ANDROID PERMISSIONS — EACH TIED TO ONE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5397500"/>
            <a:ext cx="25400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319"/>
                </a:solidFill>
                <a:latin typeface="Consolas"/>
              </a:rPr>
              <a:t>READ_PHONE_STATE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Call start and 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6000" y="5397500"/>
            <a:ext cx="25400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319"/>
                </a:solidFill>
                <a:latin typeface="Consolas"/>
              </a:rPr>
              <a:t>READ_CONTACTS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Unknown-number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000" y="5397500"/>
            <a:ext cx="25400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319"/>
                </a:solidFill>
                <a:latin typeface="Consolas"/>
              </a:rPr>
              <a:t>RECORD_AUDIO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Listening on speaker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0000" y="5397500"/>
            <a:ext cx="25400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319"/>
                </a:solidFill>
                <a:latin typeface="Consolas"/>
              </a:rPr>
              <a:t>PACKAGE_USAGE_STATS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Payment app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000" y="5791200"/>
            <a:ext cx="25400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319"/>
                </a:solidFill>
                <a:latin typeface="Consolas"/>
              </a:rPr>
              <a:t>SYSTEM_ALERT_WINDOW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Alert and pause overlays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6000" y="5791200"/>
            <a:ext cx="25400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319"/>
                </a:solidFill>
                <a:latin typeface="Consolas"/>
              </a:rPr>
              <a:t>FOREGROUND_SERVICE_MICROPHONE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Background listening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3000" y="5791200"/>
            <a:ext cx="25400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319"/>
                </a:solidFill>
                <a:latin typeface="Consolas"/>
              </a:rPr>
              <a:t>POST_NOTIFICATIONS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Alerts on Android 13+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000" y="5791200"/>
            <a:ext cx="25400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319"/>
                </a:solidFill>
                <a:latin typeface="Consolas"/>
              </a:rPr>
              <a:t>VIBRATE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Haptic warning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500" y="635000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CHETAKA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8500" y="6350000"/>
            <a:ext cx="444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FINTECH &amp; COMMERCE · FRAUD PREVENTION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445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80C4"/>
                </a:solidFill>
                <a:latin typeface="Consolas"/>
              </a:rPr>
              <a:t>KEY FEATURES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698500"/>
            <a:ext cx="9906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319"/>
                </a:solidFill>
                <a:latin typeface="Segoe UI Black"/>
              </a:rPr>
              <a:t>Others protect the call. Chetaka protects the money.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0" y="736600"/>
            <a:ext cx="1333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2A0"/>
                </a:solidFill>
                <a:latin typeface="Consolas"/>
              </a:rPr>
              <a:t>07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31500" y="952500"/>
            <a:ext cx="254000" cy="25400"/>
          </a:xfrm>
          <a:prstGeom prst="rect">
            <a:avLst/>
          </a:prstGeom>
          <a:solidFill>
            <a:srgbClr val="158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85500" y="952500"/>
            <a:ext cx="254000" cy="25400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39500" y="952500"/>
            <a:ext cx="254000" cy="2540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8500" y="1587500"/>
            <a:ext cx="4826000" cy="1206500"/>
          </a:xfrm>
          <a:prstGeom prst="roundRect">
            <a:avLst>
              <a:gd name="adj" fmla="val 3500"/>
            </a:avLst>
          </a:prstGeom>
          <a:solidFill>
            <a:srgbClr val="FDECEA"/>
          </a:solidFill>
          <a:ln w="12700">
            <a:solidFill>
              <a:srgbClr val="F0BFBB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319"/>
                </a:solidFill>
                <a:latin typeface="Segoe UI Semibold"/>
              </a:rPr>
              <a:t>Payment-app guard — our core innovation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5C6470"/>
                </a:solidFill>
                <a:latin typeface="Segoe UI"/>
              </a:rPr>
              <a:t>Links a risky call to the payment app opened after it, and pauses before money moves. Content-independent, so it still works when the scam script fools a classifier [5]. Every skip is logged with a reason, so the guard learns.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8500" y="2952750"/>
            <a:ext cx="2349500" cy="1238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Live vernacular detection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Telugu, Hindi and English code-mix, understood on-device mid-call.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75000" y="2952750"/>
            <a:ext cx="2349500" cy="1238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Explainable risk score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Every alert names its reason: authority, OTP request, urgency, isolation.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8500" y="4318000"/>
            <a:ext cx="2349500" cy="1238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Family Shield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Real-time alert to a trusted person. Opt-in per contact, no audio shared.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5000" y="4318000"/>
            <a:ext cx="2349500" cy="12382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319"/>
                </a:solidFill>
                <a:latin typeface="Segoe UI Semibold"/>
              </a:rPr>
              <a:t>Private by design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470"/>
                </a:solidFill>
                <a:latin typeface="Segoe UI"/>
              </a:rPr>
              <a:t>No audio stored, no server AI, one-tap delete.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715000" y="1587500"/>
          <a:ext cx="5778500" cy="273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984250"/>
                <a:gridCol w="1301750"/>
                <a:gridCol w="762000"/>
                <a:gridCol w="825500"/>
              </a:tblGrid>
              <a:tr h="34131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5C6470"/>
                          </a:solidFill>
                          <a:latin typeface="Consolas"/>
                        </a:rPr>
                        <a:t>Capability</a:t>
                      </a:r>
                    </a:p>
                  </a:txBody>
                  <a:tcPr marL="63500" marR="63500" marT="38100" marB="381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5C6470"/>
                          </a:solidFill>
                          <a:latin typeface="Consolas"/>
                        </a:rPr>
                        <a:t>Truecaller</a:t>
                      </a:r>
                    </a:p>
                  </a:txBody>
                  <a:tcPr marL="63500" marR="63500" marT="38100" marB="381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5C6470"/>
                          </a:solidFill>
                          <a:latin typeface="Consolas"/>
                        </a:rPr>
                        <a:t>Google scam detect</a:t>
                      </a:r>
                    </a:p>
                  </a:txBody>
                  <a:tcPr marL="63500" marR="63500" marT="38100" marB="381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5C6470"/>
                          </a:solidFill>
                          <a:latin typeface="Consolas"/>
                        </a:rPr>
                        <a:t>Bank SMS alert</a:t>
                      </a:r>
                    </a:p>
                  </a:txBody>
                  <a:tcPr marL="63500" marR="63500" marT="38100" marB="381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580C4"/>
                          </a:solidFill>
                          <a:latin typeface="Consolas"/>
                        </a:rPr>
                        <a:t>Chetaka</a:t>
                      </a:r>
                    </a:p>
                  </a:txBody>
                  <a:tcPr marL="63500" marR="63500" marT="38100" marB="38100" anchor="ctr">
                    <a:solidFill>
                      <a:srgbClr val="EEF1F6"/>
                    </a:solidFill>
                  </a:tcPr>
                </a:tc>
              </a:tr>
              <a:tr h="34131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A45"/>
                          </a:solidFill>
                          <a:latin typeface="Segoe UI"/>
                        </a:rPr>
                        <a:t>Judges who is calling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B8A50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B8A50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92A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B8A50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63500" marR="63500" marT="38100" marB="38100" anchor="ctr">
                    <a:solidFill>
                      <a:srgbClr val="EAF4FB"/>
                    </a:solidFill>
                  </a:tcPr>
                </a:tc>
              </a:tr>
              <a:tr h="34131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A45"/>
                          </a:solidFill>
                          <a:latin typeface="Segoe UI"/>
                        </a:rPr>
                        <a:t>Understands what is said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92A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97407"/>
                          </a:solidFill>
                          <a:latin typeface="Segoe UI"/>
                        </a:rPr>
                        <a:t>Varies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92A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B8A50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63500" marR="63500" marT="38100" marB="38100" anchor="ctr">
                    <a:solidFill>
                      <a:srgbClr val="EAF4FB"/>
                    </a:solidFill>
                  </a:tcPr>
                </a:tc>
              </a:tr>
              <a:tr h="34131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A45"/>
                          </a:solidFill>
                          <a:latin typeface="Segoe UI"/>
                        </a:rPr>
                        <a:t>Telugu · Hindi · English mix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92A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92A0"/>
                          </a:solidFill>
                          <a:latin typeface="Segoe UI"/>
                        </a:rPr>
                        <a:t>Limited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92A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B8A50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63500" marR="63500" marT="38100" marB="38100" anchor="ctr">
                    <a:solidFill>
                      <a:srgbClr val="EAF4FB"/>
                    </a:solidFill>
                  </a:tcPr>
                </a:tc>
              </a:tr>
              <a:tr h="34131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A45"/>
                          </a:solidFill>
                          <a:latin typeface="Segoe UI"/>
                        </a:rPr>
                        <a:t>Guards payment app after call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92A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92A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92A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B8A50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63500" marR="63500" marT="38100" marB="38100" anchor="ctr">
                    <a:solidFill>
                      <a:srgbClr val="EAF4FB"/>
                    </a:solidFill>
                  </a:tcPr>
                </a:tc>
              </a:tr>
              <a:tr h="34131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A45"/>
                          </a:solidFill>
                          <a:latin typeface="Segoe UI"/>
                        </a:rPr>
                        <a:t>Acts before money moves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97407"/>
                          </a:solidFill>
                          <a:latin typeface="Segoe UI"/>
                        </a:rPr>
                        <a:t>Partly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97407"/>
                          </a:solidFill>
                          <a:latin typeface="Segoe UI"/>
                        </a:rPr>
                        <a:t>Partly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92A0"/>
                          </a:solidFill>
                          <a:latin typeface="Segoe UI"/>
                        </a:rPr>
                        <a:t>After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B8A50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63500" marR="63500" marT="38100" marB="38100" anchor="ctr">
                    <a:solidFill>
                      <a:srgbClr val="EAF4FB"/>
                    </a:solidFill>
                  </a:tcPr>
                </a:tc>
              </a:tr>
              <a:tr h="34131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A45"/>
                          </a:solidFill>
                          <a:latin typeface="Segoe UI"/>
                        </a:rPr>
                        <a:t>Real-time family alert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92A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92A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92A0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B8A50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63500" marR="63500" marT="38100" marB="38100" anchor="ctr">
                    <a:solidFill>
                      <a:srgbClr val="EAF4FB"/>
                    </a:solidFill>
                  </a:tcPr>
                </a:tc>
              </a:tr>
              <a:tr h="34131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A45"/>
                          </a:solidFill>
                          <a:latin typeface="Segoe UI"/>
                        </a:rPr>
                        <a:t>Fully on-device AI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97407"/>
                          </a:solidFill>
                          <a:latin typeface="Segoe UI"/>
                        </a:rPr>
                        <a:t>Varies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97407"/>
                          </a:solidFill>
                          <a:latin typeface="Segoe UI"/>
                        </a:rPr>
                        <a:t>Varies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8A92A0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63500" marR="635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B8A50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63500" marR="63500" marT="38100" marB="38100" anchor="ctr"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715000" y="4572000"/>
            <a:ext cx="5778500" cy="101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Consolas"/>
              </a:rPr>
              <a:t>RESEARCH GAP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Voice-phishing classifiers judge the transcript alone, and LLM-written scam scripts cut their accuracy by more than 30% [5]. Chetaka pairs AI detection with a second check at the payment step.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500" y="635000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CHETAKA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0" y="6350000"/>
            <a:ext cx="444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FINTECH &amp; COMMERCE · FRAUD PREVENTION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445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80C4"/>
                </a:solidFill>
                <a:latin typeface="Consolas"/>
              </a:rPr>
              <a:t>HACKATHON 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698500"/>
            <a:ext cx="9906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319"/>
                </a:solidFill>
                <a:latin typeface="Segoe UI Black"/>
              </a:rPr>
              <a:t>A working prototype on the iQOO phone in 30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0" y="736600"/>
            <a:ext cx="1333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2A0"/>
                </a:solidFill>
                <a:latin typeface="Consolas"/>
              </a:rPr>
              <a:t>08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31500" y="952500"/>
            <a:ext cx="254000" cy="25400"/>
          </a:xfrm>
          <a:prstGeom prst="rect">
            <a:avLst/>
          </a:prstGeom>
          <a:solidFill>
            <a:srgbClr val="158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85500" y="952500"/>
            <a:ext cx="254000" cy="25400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39500" y="952500"/>
            <a:ext cx="254000" cy="2540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8500" y="1587500"/>
            <a:ext cx="3302000" cy="4445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Consolas"/>
              </a:rPr>
              <a:t>MINIMUM VIABLE PROTOTYPE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>
                <a:solidFill>
                  <a:srgbClr val="1B8A50"/>
                </a:solidFill>
                <a:latin typeface="Segoe UI Semibold"/>
              </a:rPr>
              <a:t>Must work in the demo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Unknown-call detection and call log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Payment-app guard with pause + skip log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Live transcription + scam scoring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In-call alert with haptics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Family alert on a second phone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</a:pPr>
            <a:r>
              <a:rPr sz="1300" b="1">
                <a:solidFill>
                  <a:srgbClr val="B97407"/>
                </a:solidFill>
                <a:latin typeface="Segoe UI Semibold"/>
              </a:rPr>
              <a:t>Stretch goals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Scam classifier on the NPU, latency on screen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Gemma 3 1B explanation in Telugu / Hindi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Camera UPI-QR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1000" y="1587500"/>
            <a:ext cx="3937000" cy="4445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Consolas"/>
              </a:rPr>
              <a:t>30-HOUR BUILD ORDER</a:t>
            </a:r>
          </a:p>
          <a:p>
            <a:pPr>
              <a:spcAft>
                <a:spcPts val="1500"/>
              </a:spcAft>
            </a:pPr>
            <a:r>
              <a:rPr sz="1200">
                <a:solidFill>
                  <a:srgbClr val="1580C4"/>
                </a:solidFill>
                <a:latin typeface="Consolas"/>
              </a:rPr>
              <a:t>0–5 h   </a:t>
            </a:r>
            <a:r>
              <a:rPr sz="1350">
                <a:solidFill>
                  <a:srgbClr val="333A45"/>
                </a:solidFill>
                <a:latin typeface="Segoe UI"/>
              </a:rPr>
              <a:t>Call monitor, contact check, local store</a:t>
            </a:r>
          </a:p>
          <a:p>
            <a:pPr>
              <a:spcAft>
                <a:spcPts val="1500"/>
              </a:spcAft>
            </a:pPr>
            <a:r>
              <a:rPr sz="1200">
                <a:solidFill>
                  <a:srgbClr val="1580C4"/>
                </a:solidFill>
                <a:latin typeface="Consolas"/>
              </a:rPr>
              <a:t>5–9 h   </a:t>
            </a:r>
            <a:r>
              <a:rPr sz="1350">
                <a:solidFill>
                  <a:srgbClr val="333A45"/>
                </a:solidFill>
                <a:latin typeface="Segoe UI"/>
              </a:rPr>
              <a:t>App watcher + payment pause — core innovation first</a:t>
            </a:r>
          </a:p>
          <a:p>
            <a:pPr>
              <a:spcAft>
                <a:spcPts val="1500"/>
              </a:spcAft>
            </a:pPr>
            <a:r>
              <a:rPr sz="1200">
                <a:solidFill>
                  <a:srgbClr val="1580C4"/>
                </a:solidFill>
                <a:latin typeface="Consolas"/>
              </a:rPr>
              <a:t>9–14 h   </a:t>
            </a:r>
            <a:r>
              <a:rPr sz="1350">
                <a:solidFill>
                  <a:srgbClr val="333A45"/>
                </a:solidFill>
                <a:latin typeface="Segoe UI"/>
              </a:rPr>
              <a:t>Listening service, speech-to-text, risk engine</a:t>
            </a:r>
          </a:p>
          <a:p>
            <a:pPr>
              <a:spcAft>
                <a:spcPts val="1500"/>
              </a:spcAft>
            </a:pPr>
            <a:r>
              <a:rPr sz="1200">
                <a:solidFill>
                  <a:srgbClr val="1580C4"/>
                </a:solidFill>
                <a:latin typeface="Consolas"/>
              </a:rPr>
              <a:t>14–17 h   </a:t>
            </a:r>
            <a:r>
              <a:rPr sz="1350">
                <a:solidFill>
                  <a:srgbClr val="333A45"/>
                </a:solidFill>
                <a:latin typeface="Segoe UI"/>
              </a:rPr>
              <a:t>In-call alert and haptics</a:t>
            </a:r>
          </a:p>
          <a:p>
            <a:pPr>
              <a:spcAft>
                <a:spcPts val="1500"/>
              </a:spcAft>
            </a:pPr>
            <a:r>
              <a:rPr sz="1200">
                <a:solidFill>
                  <a:srgbClr val="1580C4"/>
                </a:solidFill>
                <a:latin typeface="Consolas"/>
              </a:rPr>
              <a:t>17–20 h   </a:t>
            </a:r>
            <a:r>
              <a:rPr sz="1350">
                <a:solidFill>
                  <a:srgbClr val="333A45"/>
                </a:solidFill>
                <a:latin typeface="Segoe UI"/>
              </a:rPr>
              <a:t>Family alert and pairing</a:t>
            </a:r>
          </a:p>
          <a:p>
            <a:pPr>
              <a:spcAft>
                <a:spcPts val="1500"/>
              </a:spcAft>
            </a:pPr>
            <a:r>
              <a:rPr sz="1200">
                <a:solidFill>
                  <a:srgbClr val="1580C4"/>
                </a:solidFill>
                <a:latin typeface="Consolas"/>
              </a:rPr>
              <a:t>20–24 h   </a:t>
            </a:r>
            <a:r>
              <a:rPr sz="1350">
                <a:solidFill>
                  <a:srgbClr val="333A45"/>
                </a:solidFill>
                <a:latin typeface="Segoe UI"/>
              </a:rPr>
              <a:t>NPU classifier, Whisper, SLM — stretch</a:t>
            </a:r>
          </a:p>
          <a:p>
            <a:pPr>
              <a:spcAft>
                <a:spcPts val="1500"/>
              </a:spcAft>
            </a:pPr>
            <a:r>
              <a:rPr sz="1200">
                <a:solidFill>
                  <a:srgbClr val="1580C4"/>
                </a:solidFill>
                <a:latin typeface="Consolas"/>
              </a:rPr>
              <a:t>24–30 h   </a:t>
            </a:r>
            <a:r>
              <a:rPr sz="1350">
                <a:solidFill>
                  <a:srgbClr val="333A45"/>
                </a:solidFill>
                <a:latin typeface="Segoe UI"/>
              </a:rPr>
              <a:t>Test set, polish, demo rehearsal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18500" y="1587500"/>
            <a:ext cx="3175000" cy="2413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Consolas"/>
              </a:rPr>
              <a:t>LIVE DEMO · 3 PHONES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1. Phone B calls Phone A as “police”.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2. Chetaka alerts mid-call on Phone A.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3. Repeat without speaker; Phone A opens a UPI app.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4. Pause screen holds the payment; skip shown.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5. Phone C gets the family alert; debug HUD mirrored to the companion screen via Office Kit.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18500" y="4159250"/>
            <a:ext cx="3175000" cy="1905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Consolas"/>
              </a:rPr>
              <a:t>HONEST EVALUATION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333A45"/>
                </a:solidFill>
                <a:latin typeface="Segoe UI"/>
              </a:rPr>
              <a:t>Measured live on scripted calls, both languages. Recall on scam calls, false-positive rate on normal calls, and median alert latency. Targets: recall ≥ 0.80, false positives ≤ 10%, alert under 3 s. A wrong block costs more than a missed one, so the false-positive target is the hard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9000" y="5365750"/>
            <a:ext cx="863600" cy="635000"/>
          </a:xfrm>
          <a:prstGeom prst="roundRect">
            <a:avLst>
              <a:gd name="adj" fmla="val 3500"/>
            </a:avLst>
          </a:prstGeom>
          <a:solidFill>
            <a:srgbClr val="EEF1F6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22B20"/>
                </a:solidFill>
                <a:latin typeface="Segoe UI Black"/>
              </a:rPr>
              <a:t>20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C6470"/>
                </a:solidFill>
                <a:latin typeface="Segoe UI"/>
              </a:rPr>
              <a:t>scam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74200" y="5365750"/>
            <a:ext cx="863600" cy="635000"/>
          </a:xfrm>
          <a:prstGeom prst="roundRect">
            <a:avLst>
              <a:gd name="adj" fmla="val 3500"/>
            </a:avLst>
          </a:prstGeom>
          <a:solidFill>
            <a:srgbClr val="EEF1F6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8A50"/>
                </a:solidFill>
                <a:latin typeface="Segoe UI Black"/>
              </a:rPr>
              <a:t>20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C6470"/>
                </a:solidFill>
                <a:latin typeface="Segoe UI"/>
              </a:rPr>
              <a:t>normal calls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39400" y="5365750"/>
            <a:ext cx="863600" cy="635000"/>
          </a:xfrm>
          <a:prstGeom prst="roundRect">
            <a:avLst>
              <a:gd name="adj" fmla="val 3500"/>
            </a:avLst>
          </a:prstGeom>
          <a:solidFill>
            <a:srgbClr val="EEF1F6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80C4"/>
                </a:solidFill>
                <a:latin typeface="Segoe UI Black"/>
              </a:rPr>
              <a:t>3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5C6470"/>
                </a:solidFill>
                <a:latin typeface="Segoe UI"/>
              </a:rPr>
              <a:t>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500" y="635000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CHETAKA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0" y="6350000"/>
            <a:ext cx="444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FINTECH &amp; COMMERCE · FRAUD PREVENTION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445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80C4"/>
                </a:solidFill>
                <a:latin typeface="Consolas"/>
              </a:rPr>
              <a:t>UTILITY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698500"/>
            <a:ext cx="9906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319"/>
                </a:solidFill>
                <a:latin typeface="Segoe UI Black"/>
              </a:rPr>
              <a:t>Buildable today. Useful to millions of families.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0" y="736600"/>
            <a:ext cx="1333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2A0"/>
                </a:solidFill>
                <a:latin typeface="Consolas"/>
              </a:rPr>
              <a:t>09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31500" y="952500"/>
            <a:ext cx="254000" cy="25400"/>
          </a:xfrm>
          <a:prstGeom prst="rect">
            <a:avLst/>
          </a:prstGeom>
          <a:solidFill>
            <a:srgbClr val="158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85500" y="952500"/>
            <a:ext cx="254000" cy="25400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39500" y="952500"/>
            <a:ext cx="254000" cy="2540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8500" y="1587500"/>
            <a:ext cx="3429000" cy="2095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319"/>
                </a:solidFill>
                <a:latin typeface="Segoe UI Semibold"/>
              </a:rPr>
              <a:t>01  Feasibility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Every signal uses public Android APIs.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All AI models are open-source.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The core guard needs no AI model.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Fallback ladder keeps flows working.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8000" y="1587500"/>
            <a:ext cx="3429000" cy="2095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319"/>
                </a:solidFill>
                <a:latin typeface="Segoe UI Semibold"/>
              </a:rPr>
              <a:t>02  Benefits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Stops payment before the loss.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Payment guard works with speakerphone off.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Private: nothing leaves the phone.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Zero cloud cost at any scale.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7500" y="1587500"/>
            <a:ext cx="3556000" cy="4445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CE4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8000" y="1778000"/>
            <a:ext cx="317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319"/>
                </a:solidFill>
                <a:latin typeface="Segoe UI Semibold"/>
              </a:rPr>
              <a:t>03  Target users</a:t>
            </a:r>
          </a:p>
        </p:txBody>
      </p:sp>
      <p:pic>
        <p:nvPicPr>
          <p:cNvPr id="13" name="Picture 12" descr="upi_mar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0" y="2095500"/>
            <a:ext cx="3175000" cy="165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28000" y="3905250"/>
            <a:ext cx="3175000" cy="20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Parents at home receiving impersonation calls.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First-time UPI users in tier-2, tier-3 and rural India.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Adult children protecting family remotely.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Partners: phone makers, banks, telcos, cyber cells.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8500" y="3873500"/>
            <a:ext cx="7048500" cy="2159000"/>
          </a:xfrm>
          <a:prstGeom prst="roundRect">
            <a:avLst>
              <a:gd name="adj" fmla="val 3500"/>
            </a:avLst>
          </a:prstGeom>
          <a:solidFill>
            <a:srgbClr val="E8EEFB"/>
          </a:solidFill>
          <a:ln w="12700">
            <a:solidFill>
              <a:srgbClr val="C6D3F1"/>
            </a:solidFill>
          </a:ln>
          <a:effectLst>
            <a:outerShdw blurRad="180000" dist="45000" dir="5400000" rotWithShape="0">
              <a:srgbClr val="0F1319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88900" bIns="8890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319"/>
                </a:solidFill>
                <a:latin typeface="Segoe UI Semibold"/>
              </a:rPr>
              <a:t>04  Why Chetaka should be selected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Practical utility: acts at the exact moment money is lost.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Novel: the only approach guarding call-to-payment end to end.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Phone-first: voice, telephony, haptics and NPU AI on-device.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>
                <a:solidFill>
                  <a:srgbClr val="333A45"/>
                </a:solidFill>
                <a:latin typeface="Segoe UI"/>
              </a:rPr>
              <a:t>— Feasible: model-free core first, AI tiers layered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500" y="635000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CHETAKA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0" y="6350000"/>
            <a:ext cx="444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FINTECH &amp; COMMERCE · FRAUD PREVENTION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4445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580C4"/>
                </a:solidFill>
                <a:latin typeface="Consola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698500"/>
            <a:ext cx="99060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F1319"/>
                </a:solidFill>
                <a:latin typeface="Segoe UI Black"/>
              </a:rPr>
              <a:t>Research and data behind Chetaka.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0" y="736600"/>
            <a:ext cx="13335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2A0"/>
                </a:solidFill>
                <a:latin typeface="Consolas"/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31500" y="952500"/>
            <a:ext cx="254000" cy="25400"/>
          </a:xfrm>
          <a:prstGeom prst="rect">
            <a:avLst/>
          </a:prstGeom>
          <a:solidFill>
            <a:srgbClr val="158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85500" y="952500"/>
            <a:ext cx="254000" cy="25400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39500" y="952500"/>
            <a:ext cx="254000" cy="2540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1663700"/>
            <a:ext cx="52070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A45"/>
                </a:solidFill>
                <a:latin typeface="Segoe UI"/>
              </a:rPr>
              <a:t>[1]  Radford, A., Kim, J. W., Xu, T., Brockman, G., McLeavey, C., &amp; Sutskever, I. (2023). Robust speech recognition via large-scale weak supervision. ICML, PMLR 202.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1580C4"/>
                </a:solidFill>
                <a:latin typeface="Consolas"/>
                <a:hlinkClick r:id="rId2"/>
              </a:rPr>
              <a:t>Open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3000" y="1663700"/>
            <a:ext cx="52070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A45"/>
                </a:solidFill>
                <a:latin typeface="Segoe UI"/>
              </a:rPr>
              <a:t>[2]  He, Y., Sainath, T. N., Prabhavalkar, R., McGraw, I., Alvarez, R., et al. (2018). Streaming end-to-end speech recognition for mobile devices. arXiv:1811.06621.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1580C4"/>
                </a:solidFill>
                <a:latin typeface="Consolas"/>
                <a:hlinkClick r:id="rId3"/>
              </a:rPr>
              <a:t>Open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" y="2565400"/>
            <a:ext cx="52070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A45"/>
                </a:solidFill>
                <a:latin typeface="Segoe UI"/>
              </a:rPr>
              <a:t>[3]  Kim, K., Lee, K., Gowda, D., Park, J., Kim, S., et al. (2019). Attention based on-device streaming speech recognition with large speech corpus. IEEE ASRU 2019.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1580C4"/>
                </a:solidFill>
                <a:latin typeface="Consolas"/>
                <a:hlinkClick r:id="rId4"/>
              </a:rPr>
              <a:t>Open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0" y="2565400"/>
            <a:ext cx="52070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A45"/>
                </a:solidFill>
                <a:latin typeface="Segoe UI"/>
              </a:rPr>
              <a:t>[4]  Shang, Y., Wu, Z., Du, X., Jiang, Y., Ma, B., &amp; Chi, M. (2022). The psychology of the internet fraud victimization of older adults: A systematic review. Frontiers in Psychology, 13.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1580C4"/>
                </a:solidFill>
                <a:latin typeface="Consolas"/>
                <a:hlinkClick r:id="rId5"/>
              </a:rPr>
              <a:t>Open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" y="3467100"/>
            <a:ext cx="52070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A45"/>
                </a:solidFill>
                <a:latin typeface="Segoe UI"/>
              </a:rPr>
              <a:t>[5]  Li, W., Manickam, S., Chong, Y.-W., &amp; Karuppayah, S. (2025). Talking like a phisher: LLM-based attacks on voice phishing classifiers. EAI ICDF2C 2025. arXiv:2507.16291.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1580C4"/>
                </a:solidFill>
                <a:latin typeface="Consolas"/>
                <a:hlinkClick r:id="rId6"/>
              </a:rPr>
              <a:t>Open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000" y="3467100"/>
            <a:ext cx="52070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A45"/>
                </a:solidFill>
                <a:latin typeface="Segoe UI"/>
              </a:rPr>
              <a:t>[6]  Han, S. D., Barnes, L. L., Leurgans, S., Yu, L., Stewart, C. C., Lamar, M., et al. (2021). Susceptibility to scams in older Black and White adults. Frontiers in Psychology, 12, 685258.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1580C4"/>
                </a:solidFill>
                <a:latin typeface="Consolas"/>
                <a:hlinkClick r:id="rId7"/>
              </a:rPr>
              <a:t>Open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" y="4368800"/>
            <a:ext cx="52070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A45"/>
                </a:solidFill>
                <a:latin typeface="Segoe UI"/>
              </a:rPr>
              <a:t>[7]  Chetry, S. (2026, July 18). Digital arrest scams and the limits of domestic enforcement. Observer Research Foundation, Expert Speak.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1580C4"/>
                </a:solidFill>
                <a:latin typeface="Consolas"/>
                <a:hlinkClick r:id="rId8"/>
              </a:rPr>
              <a:t>Open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0" y="4368800"/>
            <a:ext cx="52070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A45"/>
                </a:solidFill>
                <a:latin typeface="Segoe UI"/>
              </a:rPr>
              <a:t>[8]  NITI Aayog. (2025). Digital arrest: The modern day cyber scam. Government of India.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1580C4"/>
                </a:solidFill>
                <a:latin typeface="Consolas"/>
                <a:hlinkClick r:id="rId9"/>
              </a:rPr>
              <a:t>Open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" y="5270500"/>
            <a:ext cx="52070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A45"/>
                </a:solidFill>
                <a:latin typeface="Segoe UI"/>
              </a:rPr>
              <a:t>[9]  The Federal. (2026, May 25). Bengaluru digital arrest scam: Elderly woman loses Rs 24 crore, six held.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1580C4"/>
                </a:solidFill>
                <a:latin typeface="Consolas"/>
                <a:hlinkClick r:id="rId10"/>
              </a:rPr>
              <a:t>Open 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50500" y="5302250"/>
            <a:ext cx="381000" cy="31750"/>
          </a:xfrm>
          <a:prstGeom prst="rect">
            <a:avLst/>
          </a:prstGeom>
          <a:solidFill>
            <a:srgbClr val="158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31500" y="5302250"/>
            <a:ext cx="381000" cy="31750"/>
          </a:xfrm>
          <a:prstGeom prst="rect">
            <a:avLst/>
          </a:prstGeom>
          <a:solidFill>
            <a:srgbClr val="1E3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112500" y="5302250"/>
            <a:ext cx="381000" cy="31750"/>
          </a:xfrm>
          <a:prstGeom prst="rect">
            <a:avLst/>
          </a:prstGeom>
          <a:solidFill>
            <a:srgbClr val="D2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0" y="54610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1319"/>
                </a:solidFill>
                <a:latin typeface="Segoe UI Black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0" y="5905500"/>
            <a:ext cx="444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470"/>
                </a:solidFill>
                <a:latin typeface="Consolas"/>
              </a:rPr>
              <a:t>CHETAKA · THE SCAM SHIELD THAT FOLLOWS THE 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500" y="635000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CHETAKA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8500" y="6350000"/>
            <a:ext cx="4445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2A0"/>
                </a:solidFill>
                <a:latin typeface="Consolas"/>
              </a:rPr>
              <a:t>FINTECH &amp; COMMERCE · FRAUD PREVENTION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